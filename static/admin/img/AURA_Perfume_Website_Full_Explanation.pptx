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>
            <a:solidFill>
              <a:srgbClr val="F7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00584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AURA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2763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PERFUME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1234440"/>
            <a:ext cx="60807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83447"/>
                </a:solidFill>
                <a:latin typeface="Aptos"/>
              </a:rPr>
              <a:t>From Zero to
Finished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8656" y="2788920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68092"/>
                </a:solidFill>
                <a:latin typeface="Aptos"/>
              </a:rPr>
              <a:t>A complete technical + UX/UI walkthrough of the AURA perfume e-commerce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48656" y="3794760"/>
            <a:ext cx="2907792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48656" y="3803904"/>
            <a:ext cx="290779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ENGLISH SLIDES • KHMER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8656" y="4407408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3447"/>
                </a:solidFill>
                <a:latin typeface="Aptos"/>
              </a:rPr>
              <a:t>Frontend • Backend • Database • Authentication • Admin • Orders •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8656" y="516636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284C7"/>
                </a:solidFill>
                <a:latin typeface="Noto Sans Khmer"/>
              </a:rPr>
              <a:t>ស្លាយជាភាសាអង់គ្លេស + ការពន្យល់ជាភាសាខ្មែរ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What is AURA?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The project is a full-stack perfume e-commerce website.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6126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83447"/>
                </a:solidFill>
                <a:latin typeface="Aptos"/>
              </a:defRPr>
            </a:pPr>
            <a:r>
              <a:t>A customer-facing storefront for browsing and buying perfumes.</a:t>
            </a:r>
          </a:p>
          <a:p>
            <a:pPr>
              <a:spcAft>
                <a:spcPts val="1000"/>
              </a:spcAft>
              <a:defRPr sz="1500">
                <a:solidFill>
                  <a:srgbClr val="183447"/>
                </a:solidFill>
                <a:latin typeface="Aptos"/>
              </a:defRPr>
            </a:pPr>
            <a:r>
              <a:t>A React frontend connected to a Django REST backend.</a:t>
            </a:r>
          </a:p>
          <a:p>
            <a:pPr>
              <a:spcAft>
                <a:spcPts val="1000"/>
              </a:spcAft>
              <a:defRPr sz="1500">
                <a:solidFill>
                  <a:srgbClr val="183447"/>
                </a:solidFill>
                <a:latin typeface="Aptos"/>
              </a:defRPr>
            </a:pPr>
            <a:r>
              <a:t>JWT-based authentication for secure user sessions.</a:t>
            </a:r>
          </a:p>
          <a:p>
            <a:pPr>
              <a:spcAft>
                <a:spcPts val="1000"/>
              </a:spcAft>
              <a:defRPr sz="1500">
                <a:solidFill>
                  <a:srgbClr val="183447"/>
                </a:solidFill>
                <a:latin typeface="Aptos"/>
              </a:defRPr>
            </a:pPr>
            <a:r>
              <a:t>A Django Admin dashboard for products, categories, orders, and users.</a:t>
            </a:r>
          </a:p>
          <a:p>
            <a:pPr>
              <a:spcAft>
                <a:spcPts val="1000"/>
              </a:spcAft>
              <a:defRPr sz="1500">
                <a:solidFill>
                  <a:srgbClr val="183447"/>
                </a:solidFill>
                <a:latin typeface="Aptos"/>
              </a:defRPr>
            </a:pPr>
            <a:r>
              <a:t>A data layer backed by SQLite during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8352" y="1737360"/>
            <a:ext cx="4069080" cy="406908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07808" y="193852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8" y="194767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23160"/>
            <a:ext cx="3630168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AURA គឺជា website លក់ perfume online ដែលមានទាំងផ្នែកដែលអតិថិជនមើលឃើញ និងផ្នែក backend សម្រាប់គ្រប់គ្រងទិន្នន័យ។ Frontend ប្រើ React, backend ប្រើ Django REST API ហើយមាន Admin Dashboard សម្រាប់គ្រប់គ្រង product និង order។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02 •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What the website needs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Start from user needs before writing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2898648" cy="1234440"/>
          </a:xfrm>
          <a:prstGeom prst="roundRect">
            <a:avLst/>
          </a:prstGeom>
          <a:solidFill>
            <a:srgbClr val="EFF9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447"/>
                </a:solidFill>
                <a:latin typeface="Apto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359152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Users need a clean way to browse perfume products.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828800"/>
            <a:ext cx="289864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6511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447"/>
                </a:solidFill>
                <a:latin typeface="Aptos"/>
              </a:rPr>
              <a:t>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1" y="2359152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Users need price, brand, rating, notes, and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83280"/>
            <a:ext cx="2898648" cy="1234440"/>
          </a:xfrm>
          <a:prstGeom prst="roundRect">
            <a:avLst/>
          </a:prstGeom>
          <a:solidFill>
            <a:srgbClr val="EFF9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5661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447"/>
                </a:solidFill>
                <a:latin typeface="Aptos"/>
              </a:rPr>
              <a:t>Buy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913632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Users need cart, login, checkout, and order creation.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383280"/>
            <a:ext cx="289864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1" y="35661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447"/>
                </a:solidFill>
                <a:latin typeface="Aptos"/>
              </a:rPr>
              <a:t>Manage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1" y="3913632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The owner needs tools to manage products and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8352" y="1737360"/>
            <a:ext cx="4069080" cy="406908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07808" y="193852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194767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423160"/>
            <a:ext cx="3630168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ដំបូងត្រូវគិតពី problem មុន coding។ អ្នកប្រើត្រូវការស្វែងរក product, មើលព័ត៌មាន, ដាក់ចូលកន្ត្រក និងបញ្ជាទិញ។ អ្នកគ្រប់គ្រងត្រូវការ dashboard ដើម្បីគ្រប់គ្រង product និង order។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03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How the whole system connects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Three main layers work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2926080" cy="2286000"/>
          </a:xfrm>
          <a:prstGeom prst="roundRect">
            <a:avLst/>
          </a:prstGeom>
          <a:solidFill>
            <a:srgbClr val="EFF9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0428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83464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3447"/>
                </a:solidFill>
                <a:latin typeface="Aptos"/>
              </a:rPr>
              <a:t>React
UI • Routing • Cart • Auth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8" y="2011680"/>
            <a:ext cx="2926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0428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3447"/>
                </a:solidFill>
                <a:latin typeface="Aptos"/>
              </a:rPr>
              <a:t>Django REST API
Auth • Products •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2011680"/>
            <a:ext cx="2926080" cy="2286000"/>
          </a:xfrm>
          <a:prstGeom prst="roundRect">
            <a:avLst/>
          </a:prstGeom>
          <a:solidFill>
            <a:srgbClr val="EFF9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30428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Aptos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5944" y="283464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3447"/>
                </a:solidFill>
                <a:latin typeface="Aptos"/>
              </a:rPr>
              <a:t>SQLite
Users • Products • Orders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3154680"/>
            <a:ext cx="932688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62088" y="3154680"/>
            <a:ext cx="923544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67328" y="27889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0284C7"/>
                </a:solidFill>
                <a:latin typeface="Aptos"/>
              </a:rPr>
              <a:t>HTTP / JSON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7889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0284C7"/>
                </a:solidFill>
                <a:latin typeface="Aptos"/>
              </a:rPr>
              <a:t>ORM /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09160"/>
            <a:ext cx="10634472" cy="132588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6695" y="491032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91947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" y="5394960"/>
            <a:ext cx="10195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Frontend ជាផ្នែកដែល user ចុចប្រើ។ វាផ្ញើ request ទៅ Django API។ Django ដោះស្រាយ business logic ហើយអាន/សរសេរទិន្នន័យក្នុង database។ ដូច្នេះ 3 layers នេះធ្វើការជាមួយគ្នា។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04 •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From folders to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Organize the code so every part has a clear job.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6080760" cy="4251960"/>
          </a:xfrm>
          <a:prstGeom prst="roundRect">
            <a:avLst/>
          </a:prstGeom>
          <a:solidFill>
            <a:srgbClr val="F8FBFD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92807"/>
            <a:ext cx="5788152" cy="4032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369A1"/>
                </a:solidFill>
                <a:latin typeface="Consolas"/>
              </a:rPr>
              <a:t>aura-perfume-store/
├─ frontend/              → React website
│  ├─ src/
│  │  ├─ pages/           → Home, Shop, Cart, Login, Profile
│  │  ├─ components/      → Navbar, Product cards, UI
│  │  └─ services/        → API communication
│
└─ backend/
   ├─ api/                → Models, serializers, views, URLs
   ├─ config/             → Django project settings
   ├─ templates/admin/    → Admin UI templates
   ├─ static/admin/      → Admin CSS/images
   ├─ media/             → Uploaded product images
   └─ db.sqlite3         → Development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59168" y="1783080"/>
            <a:ext cx="4434840" cy="425196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78624" y="198424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78624" y="1993391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8624" y="2468880"/>
            <a:ext cx="3995927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Folder គឺជាការរៀបចំ code តាម responsibility។ Frontend គ្រប់គ្រង UI។ Backend គ្រប់គ្រង API និង database។ static គឺសម្រាប់ CSS/image របស់ admin ហើយ media គឺសម្រាប់រូបភាព product ដែល upload។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05 •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What data the system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The database is designed around the shopping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965960" cy="114300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055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284C7"/>
                </a:solidFill>
                <a:latin typeface="Aptos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1783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Account
Email / Password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965960"/>
            <a:ext cx="1965960" cy="114300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3055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284C7"/>
                </a:solidFill>
                <a:latin typeface="Aptos"/>
              </a:rPr>
              <a:t>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41448"/>
            <a:ext cx="1783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Perfume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965960"/>
            <a:ext cx="1965960" cy="1143000"/>
          </a:xfrm>
          <a:prstGeom prst="roundRect">
            <a:avLst/>
          </a:prstGeom>
          <a:solidFill>
            <a:srgbClr val="EFF9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13055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Aptos"/>
              </a:rPr>
              <a:t>Perfume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41448"/>
            <a:ext cx="1783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Name / Brand / Price
Stock / Image / Rating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114800"/>
            <a:ext cx="1965960" cy="114300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27939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284C7"/>
                </a:solidFill>
                <a:latin typeface="Aptos"/>
              </a:rPr>
              <a:t>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590288"/>
            <a:ext cx="1783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Customer / Status
Total /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114800"/>
            <a:ext cx="1965960" cy="114300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27939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284C7"/>
                </a:solidFill>
                <a:latin typeface="Aptos"/>
              </a:rPr>
              <a:t>OrderItem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590288"/>
            <a:ext cx="17830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Product / Price
Quantity / Subtotal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1760" y="2542032"/>
            <a:ext cx="320040" cy="0"/>
          </a:xfrm>
          <a:prstGeom prst="line">
            <a:avLst/>
          </a:prstGeom>
          <a:ln w="2032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37760" y="2542032"/>
            <a:ext cx="320040" cy="0"/>
          </a:xfrm>
          <a:prstGeom prst="line">
            <a:avLst/>
          </a:prstGeom>
          <a:ln w="2032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880360" y="3108960"/>
            <a:ext cx="3337560" cy="1005840"/>
          </a:xfrm>
          <a:prstGeom prst="line">
            <a:avLst/>
          </a:prstGeom>
          <a:ln w="2032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17920" y="3108960"/>
            <a:ext cx="2514600" cy="1005840"/>
          </a:xfrm>
          <a:prstGeom prst="line">
            <a:avLst/>
          </a:prstGeom>
          <a:ln w="2032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94760" y="4114800"/>
            <a:ext cx="4846320" cy="566928"/>
          </a:xfrm>
          <a:prstGeom prst="line">
            <a:avLst/>
          </a:prstGeom>
          <a:ln w="1524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75320" y="1828800"/>
            <a:ext cx="3337560" cy="214884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94776" y="202996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94776" y="203911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514600"/>
            <a:ext cx="28986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ឧទាហរណ៍៖ User ម្នាក់បង្កើត Order។ Order មាន OrderItem ច្រើន។ OrderItem មួយភ្ជាប់ទៅ Perfume និងរក្សាទុក price + quantity។ នេះធ្វើឱ្យ order history អាចរក្សាទុកបានច្បាស់។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06 •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The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React is responsible for what the shopper sees and interacts with.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83080"/>
            <a:ext cx="347472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92224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647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773936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Hero section, featured products,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32888"/>
            <a:ext cx="347472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523744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Product browsing, search, filters, product cards.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282696"/>
            <a:ext cx="347472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91839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6440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73552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Images, price, stock, rating, details, Add to Bag.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32504"/>
            <a:ext cx="347472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1421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Cart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023360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Selected items, quantities, totals, checkout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82312"/>
            <a:ext cx="347472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791455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64024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Account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773168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Login, register, profile, order history.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1783080"/>
            <a:ext cx="4434840" cy="429768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78624" y="198424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8624" y="1993391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2468880"/>
            <a:ext cx="3995927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Frontend គឺជាអ្វីដែល customer មើលឃើញ។ React ជួយបែងចែក UI ជា pages និង components ដូចជា Navbar, Product Card និង Cart។ User flow ចាប់ពី Home → Shop → Product → Cart → Login/Checkout។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07 • BACKEND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How React talks to Django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The frontend does not directly modify the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074920" cy="3886200"/>
          </a:xfrm>
          <a:prstGeom prst="roundRect">
            <a:avLst/>
          </a:prstGeom>
          <a:solidFill>
            <a:srgbClr val="F8FBFD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938528"/>
            <a:ext cx="4782312" cy="3666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369A1"/>
                </a:solidFill>
                <a:latin typeface="Consolas"/>
              </a:rPr>
              <a:t>React
  │
  │  GET /api/perfumes/
  ▼
Django REST API
  │
  ├─ Serializer → converts data
  ├─ View       → business logic
  └─ Model      → database
  │
  ▼
JSON response
  │
  ▼
React renders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3852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447"/>
                </a:solidFill>
                <a:latin typeface="Aptos"/>
              </a:rPr>
              <a:t>Typical API responsibilities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42316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3447"/>
                </a:solidFill>
                <a:latin typeface="Aptos"/>
              </a:defRPr>
            </a:pPr>
            <a:r>
              <a:t>Fetch perfume products.</a:t>
            </a:r>
          </a:p>
          <a:p>
            <a:pPr>
              <a:spcAft>
                <a:spcPts val="1000"/>
              </a:spcAft>
              <a:defRPr sz="1200">
                <a:solidFill>
                  <a:srgbClr val="183447"/>
                </a:solidFill>
                <a:latin typeface="Aptos"/>
              </a:defRPr>
            </a:pPr>
            <a:r>
              <a:t>Authenticate users with JWT.</a:t>
            </a:r>
          </a:p>
          <a:p>
            <a:pPr>
              <a:spcAft>
                <a:spcPts val="1000"/>
              </a:spcAft>
              <a:defRPr sz="1200">
                <a:solidFill>
                  <a:srgbClr val="183447"/>
                </a:solidFill>
                <a:latin typeface="Aptos"/>
              </a:defRPr>
            </a:pPr>
            <a:r>
              <a:t>Create and retrieve user orders.</a:t>
            </a:r>
          </a:p>
          <a:p>
            <a:pPr>
              <a:spcAft>
                <a:spcPts val="1000"/>
              </a:spcAft>
              <a:defRPr sz="1200">
                <a:solidFill>
                  <a:srgbClr val="183447"/>
                </a:solidFill>
                <a:latin typeface="Aptos"/>
              </a:defRPr>
            </a:pPr>
            <a:r>
              <a:t>Validate and serialize data.</a:t>
            </a:r>
          </a:p>
          <a:p>
            <a:pPr>
              <a:spcAft>
                <a:spcPts val="1000"/>
              </a:spcAft>
              <a:defRPr sz="1200">
                <a:solidFill>
                  <a:srgbClr val="183447"/>
                </a:solidFill>
                <a:latin typeface="Aptos"/>
              </a:defRPr>
            </a:pPr>
            <a:r>
              <a:t>Keep frontend and backend separated.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73168"/>
            <a:ext cx="4663440" cy="132588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37376" y="4974336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4983479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5458968"/>
            <a:ext cx="42245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React មិនគួរចូល database ដោយផ្ទាល់ទេ។ React ផ្ញើ request → Django ទទួល → View ដំណើរការ → Model ទាញពី database → Serializer បម្លែងទៅ JSON → React បង្ហាញលទ្ធផល។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08 •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Login, register, and protected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JWT tokens allow the website to recognize the current user.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874519"/>
            <a:ext cx="411480" cy="4114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83663"/>
            <a:ext cx="411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865376"/>
            <a:ext cx="4773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447"/>
                </a:solidFill>
                <a:latin typeface="Aptos"/>
              </a:rPr>
              <a:t>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2167127"/>
            <a:ext cx="4773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Create a user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606039"/>
            <a:ext cx="411480" cy="4114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615183"/>
            <a:ext cx="411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596896"/>
            <a:ext cx="4773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447"/>
                </a:solidFill>
                <a:latin typeface="Aptos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898647"/>
            <a:ext cx="4773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Backend verifies credentials.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337560"/>
            <a:ext cx="411480" cy="4114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346703"/>
            <a:ext cx="411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328416"/>
            <a:ext cx="4773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447"/>
                </a:solidFill>
                <a:latin typeface="Aptos"/>
              </a:rPr>
              <a:t>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630168"/>
            <a:ext cx="4773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Access + refresh tokens are issued.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069080"/>
            <a:ext cx="411480" cy="4114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078224"/>
            <a:ext cx="411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059936"/>
            <a:ext cx="4773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447"/>
                </a:solidFill>
                <a:latin typeface="Aptos"/>
              </a:rPr>
              <a:t>Protected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361688"/>
            <a:ext cx="4773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Token is sent with requests.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800600"/>
            <a:ext cx="411480" cy="4114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09744"/>
            <a:ext cx="411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4791456"/>
            <a:ext cx="4773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3447"/>
                </a:solidFill>
                <a:latin typeface="Aptos"/>
              </a:rPr>
              <a:t>Logout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5093208"/>
            <a:ext cx="4773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8092"/>
                </a:solidFill>
                <a:latin typeface="Aptos"/>
              </a:rPr>
              <a:t>Client removes the session tokens.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56832" y="1828800"/>
            <a:ext cx="4572000" cy="434340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76288" y="202996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203911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514600"/>
            <a:ext cx="4133087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JWT គឺជាវិធីឱ្យ backend ស្គាល់ថា user ណាកំពុងប្រើ។ ពេល Login បាន backend ផ្ញើ token។ ពេល request ដែលត្រូវការ login React ផ្ញើ token ទៅ API។ ឧទាហរណ៍ Add to Bag និង My Orders អាចត្រូវបានការពារ។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09 • SHOPPING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From product discovery to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The most important end-to-end customer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402336" cy="34747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66543"/>
            <a:ext cx="4023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029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Browse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395728"/>
            <a:ext cx="12984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Home / Shop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2231136"/>
            <a:ext cx="182879" cy="0"/>
          </a:xfrm>
          <a:prstGeom prst="line">
            <a:avLst/>
          </a:prstGeom>
          <a:ln w="2286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51176" y="2057400"/>
            <a:ext cx="402336" cy="34747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1176" y="2066543"/>
            <a:ext cx="4023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029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Choose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395728"/>
            <a:ext cx="12984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Product details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42816" y="2231136"/>
            <a:ext cx="182880" cy="0"/>
          </a:xfrm>
          <a:prstGeom prst="line">
            <a:avLst/>
          </a:prstGeom>
          <a:ln w="2286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43983" y="2057400"/>
            <a:ext cx="402336" cy="34747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3" y="2066543"/>
            <a:ext cx="4023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1" y="2029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1" y="2395728"/>
            <a:ext cx="12984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Cart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35623" y="2231136"/>
            <a:ext cx="182880" cy="0"/>
          </a:xfrm>
          <a:prstGeom prst="line">
            <a:avLst/>
          </a:prstGeom>
          <a:ln w="2286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36791" y="2057400"/>
            <a:ext cx="402336" cy="34747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1" y="2066543"/>
            <a:ext cx="4023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2029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Sign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2395728"/>
            <a:ext cx="12984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Login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28431" y="2231136"/>
            <a:ext cx="182880" cy="0"/>
          </a:xfrm>
          <a:prstGeom prst="line">
            <a:avLst/>
          </a:prstGeom>
          <a:ln w="2286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0" y="2057400"/>
            <a:ext cx="402336" cy="34747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066543"/>
            <a:ext cx="4023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2029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Checkout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2395728"/>
            <a:ext cx="12984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Order 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21240" y="2231136"/>
            <a:ext cx="182880" cy="0"/>
          </a:xfrm>
          <a:prstGeom prst="line">
            <a:avLst/>
          </a:prstGeom>
          <a:ln w="2286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22408" y="2057400"/>
            <a:ext cx="402336" cy="347472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8" y="2066543"/>
            <a:ext cx="4023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7896" y="202996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Create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7896" y="2395728"/>
            <a:ext cx="12984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Order + Items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3657600"/>
            <a:ext cx="10826496" cy="169164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7824" y="385876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3867911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4343400"/>
            <a:ext cx="1038758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User អាច browse មុន Login បាន។ ប៉ុន្តែពេលចង់ Add to Bag ប្រព័ន្ធអាចបញ្ជូនទៅ Login ប្រសិនបើមិនទាន់ចូលគណនី។ បន្ទាប់មក Cart → Checkout → OrderCreateView បង្កើត Order និង OrderItem។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10 •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How order data is 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Orders are user-specific and contain line items.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4983480" cy="3931920"/>
          </a:xfrm>
          <a:prstGeom prst="roundRect">
            <a:avLst/>
          </a:prstGeom>
          <a:solidFill>
            <a:srgbClr val="F8FBFD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8"/>
            <a:ext cx="4690872" cy="37124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369A1"/>
                </a:solidFill>
                <a:latin typeface="Consolas"/>
              </a:rPr>
              <a:t>Order
├─ user
├─ customer_name
├─ email
├─ phone
├─ address
├─ payment_method
├─ status
└─ total
OrderItem
├─ order
├─ perfume
├─ price
├─ quantity
└─ subtotal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74519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3447"/>
                </a:solidFill>
                <a:latin typeface="Aptos"/>
              </a:defRPr>
            </a:pPr>
            <a:r>
              <a:t>OrderCreateView requires authentication.</a:t>
            </a:r>
          </a:p>
          <a:p>
            <a:pPr>
              <a:spcAft>
                <a:spcPts val="1000"/>
              </a:spcAft>
              <a:defRPr sz="1200">
                <a:solidFill>
                  <a:srgbClr val="183447"/>
                </a:solidFill>
                <a:latin typeface="Aptos"/>
              </a:defRPr>
            </a:pPr>
            <a:r>
              <a:t>The authenticated user is saved on the order.</a:t>
            </a:r>
          </a:p>
          <a:p>
            <a:pPr>
              <a:spcAft>
                <a:spcPts val="1000"/>
              </a:spcAft>
              <a:defRPr sz="1200">
                <a:solidFill>
                  <a:srgbClr val="183447"/>
                </a:solidFill>
                <a:latin typeface="Aptos"/>
              </a:defRPr>
            </a:pPr>
            <a:r>
              <a:t>MyOrdersView returns only the current user's orders.</a:t>
            </a:r>
          </a:p>
          <a:p>
            <a:pPr>
              <a:spcAft>
                <a:spcPts val="1000"/>
              </a:spcAft>
              <a:defRPr sz="1200">
                <a:solidFill>
                  <a:srgbClr val="183447"/>
                </a:solidFill>
                <a:latin typeface="Aptos"/>
              </a:defRPr>
            </a:pPr>
            <a:r>
              <a:t>Order detail is filtered by user ownership.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160520"/>
            <a:ext cx="4572000" cy="160020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3096" y="436168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4370831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4846320"/>
            <a:ext cx="41330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ចំណុចសំខាន់គឺ Order របស់ user ម្នាក់មិនគួរឱ្យ user ផ្សេងទៀតមើលបាន។ Backend filter តាម user=request.user ដើម្បីការពារ order ownership។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11 •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The store owner's control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Django Admin manages the operational side of the business.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2880360" cy="841248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95681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668092"/>
                </a:solidFill>
                <a:latin typeface="Aptos"/>
              </a:rPr>
              <a:t>Add, edit, stock, price, image, rating.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59352" y="1828800"/>
            <a:ext cx="2880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23944" y="195681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3944" y="22402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668092"/>
                </a:solidFill>
                <a:latin typeface="Aptos"/>
              </a:rPr>
              <a:t>Organize the perfume catalog.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80360"/>
            <a:ext cx="2880360" cy="841248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0083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2918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668092"/>
                </a:solidFill>
                <a:latin typeface="Aptos"/>
              </a:rPr>
              <a:t>View customers, totals, payment and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9352" y="2880360"/>
            <a:ext cx="2880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23944" y="300837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Order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3944" y="32918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668092"/>
                </a:solidFill>
                <a:latin typeface="Aptos"/>
              </a:rPr>
              <a:t>Inspect products, quantity and subtotal.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4572000"/>
            <a:ext cx="2880360" cy="841248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470001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49834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668092"/>
                </a:solidFill>
                <a:latin typeface="Aptos"/>
              </a:rPr>
              <a:t>Manage accounts through Django auth.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828800"/>
            <a:ext cx="3749039" cy="356616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63256" y="202996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203911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2514600"/>
            <a:ext cx="3310127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Admin គឺសម្រាប់អ្នកគ្រប់គ្រង website មិនមែនសម្រាប់ customer។ អ្នកអាចបន្ថែម product, កែ price/stock, មើល order និង update order status។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12 • UX/UI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Why the design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The goal is a premium perfume shopping experience, not just a working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37943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8105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Visual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3552" y="1819656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8092"/>
                </a:solidFill>
                <a:latin typeface="Aptos"/>
              </a:rPr>
              <a:t>Important information is large and easy to scan.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24912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70662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715768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8092"/>
                </a:solidFill>
                <a:latin typeface="Aptos"/>
              </a:rPr>
              <a:t>Buttons, spacing, colors, and cards follow one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21024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30168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602736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3611880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8092"/>
                </a:solidFill>
                <a:latin typeface="Aptos"/>
              </a:rPr>
              <a:t>Clear product details, availability, and order states.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17136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26279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49884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Friction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4507992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8092"/>
                </a:solidFill>
                <a:latin typeface="Aptos"/>
              </a:rPr>
              <a:t>Simple navigation from discovery to checkout.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828800"/>
            <a:ext cx="4663440" cy="388620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0256" y="202996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03911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514600"/>
            <a:ext cx="4224527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UX មិនមែនត្រឹមតែធ្វើឱ្យស្អាតទេ។ UX គឺធ្វើឱ្យ user ដឹងថាត្រូវចុចអ្វី បន្ទាប់ពីនោះត្រូវទៅណា និងមិនច្រឡំ។ សម្រាប់ perfume brand គួរមាន feeling premium, clean និង trustworthy។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13 •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A realistic build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Build in layers so errors are easier to isolate.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37943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19656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3969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Features + user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37943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819656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13969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Figma / React screens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837943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1819656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213969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Models +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828800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59" y="1837943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819656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13969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Register + JWT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29000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38144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419856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Commerce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73989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Cart + Orders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429000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438144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419856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373989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Products + Orders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429000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438144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3419856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373989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Fix + polish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59" y="3429000"/>
            <a:ext cx="384048" cy="32918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59" y="3438144"/>
            <a:ext cx="3840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419856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73989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8092"/>
                </a:solidFill>
                <a:latin typeface="Aptos"/>
              </a:rPr>
              <a:t>Production release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074920"/>
            <a:ext cx="10469880" cy="91440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5256" y="527608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" y="5285231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760720"/>
            <a:ext cx="10030967" cy="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លំដាប់ដែលល្អគឺ Plan → UI → Backend → Auth → Cart/Order → Admin → Test → Deploy។ កុំចាប់ផ្តើមទាំងអស់ក្នុងពេលតែមួយ ព្រោះពេល error នឹងពិបាករក។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14 •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What we learned while building AURA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Real projects are iterative.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83080"/>
            <a:ext cx="5715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11095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Static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87451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Admin CSS must be loaded from the correct static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51760"/>
            <a:ext cx="5715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79776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Template blocks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74320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Django template syntax must stay balanced and valid.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520439"/>
            <a:ext cx="5715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648456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Duplicate admin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61187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Only one registered PerfumeAdmin should control the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389120"/>
            <a:ext cx="5715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17136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Django 6.1 format_html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48055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Literal HTML should not call format_html() without args; mark_safe() is appropriate.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783080"/>
            <a:ext cx="4251960" cy="356616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23176" y="198424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1993391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2468880"/>
            <a:ext cx="3813048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ពេលមាន error កុំ panic។ អាន traceback មើល file, line និង function ដែល crash។ ក្នុង project នេះយើងបានជួប static CSS, template syntax, duplicate Admin class និង format_html() behavior របស់ Django 6.1។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15 •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How to know the website is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Test both happy paths and failure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83447"/>
                </a:solidFill>
                <a:latin typeface="Aptos"/>
              </a:defRPr>
            </a:pPr>
            <a:r>
              <a:t>Guest can browse products.</a:t>
            </a:r>
          </a:p>
          <a:p>
            <a:pPr>
              <a:spcAft>
                <a:spcPts val="1000"/>
              </a:spcAft>
              <a:defRPr sz="1300">
                <a:solidFill>
                  <a:srgbClr val="183447"/>
                </a:solidFill>
                <a:latin typeface="Aptos"/>
              </a:defRPr>
            </a:pPr>
            <a:r>
              <a:t>Login and register work.</a:t>
            </a:r>
          </a:p>
          <a:p>
            <a:pPr>
              <a:spcAft>
                <a:spcPts val="1000"/>
              </a:spcAft>
              <a:defRPr sz="1300">
                <a:solidFill>
                  <a:srgbClr val="183447"/>
                </a:solidFill>
                <a:latin typeface="Aptos"/>
              </a:defRPr>
            </a:pPr>
            <a:r>
              <a:t>Protected actions redirect unauthenticated users.</a:t>
            </a:r>
          </a:p>
          <a:p>
            <a:pPr>
              <a:spcAft>
                <a:spcPts val="1000"/>
              </a:spcAft>
              <a:defRPr sz="1300">
                <a:solidFill>
                  <a:srgbClr val="183447"/>
                </a:solidFill>
                <a:latin typeface="Aptos"/>
              </a:defRPr>
            </a:pPr>
            <a:r>
              <a:t>Cart totals are correct.</a:t>
            </a:r>
          </a:p>
          <a:p>
            <a:pPr>
              <a:spcAft>
                <a:spcPts val="1000"/>
              </a:spcAft>
              <a:defRPr sz="1300">
                <a:solidFill>
                  <a:srgbClr val="183447"/>
                </a:solidFill>
                <a:latin typeface="Aptos"/>
              </a:defRPr>
            </a:pPr>
            <a:r>
              <a:t>Order creation stores correct user and items.</a:t>
            </a:r>
          </a:p>
          <a:p>
            <a:pPr>
              <a:spcAft>
                <a:spcPts val="1000"/>
              </a:spcAft>
              <a:defRPr sz="1300">
                <a:solidFill>
                  <a:srgbClr val="183447"/>
                </a:solidFill>
                <a:latin typeface="Aptos"/>
              </a:defRPr>
            </a:pPr>
            <a:r>
              <a:t>Users can only see their own orders.</a:t>
            </a:r>
          </a:p>
          <a:p>
            <a:pPr>
              <a:spcAft>
                <a:spcPts val="1000"/>
              </a:spcAft>
              <a:defRPr sz="1300">
                <a:solidFill>
                  <a:srgbClr val="183447"/>
                </a:solidFill>
                <a:latin typeface="Aptos"/>
              </a:defRPr>
            </a:pPr>
            <a:r>
              <a:t>Admin can manage products and order status.</a:t>
            </a:r>
          </a:p>
          <a:p>
            <a:pPr>
              <a:spcAft>
                <a:spcPts val="1000"/>
              </a:spcAft>
              <a:defRPr sz="1300">
                <a:solidFill>
                  <a:srgbClr val="183447"/>
                </a:solidFill>
                <a:latin typeface="Aptos"/>
              </a:defRPr>
            </a:pPr>
            <a:r>
              <a:t>Images, search, filters, and responsive layout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828800"/>
            <a:ext cx="4343400" cy="3977639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06056" y="202996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06056" y="203911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6056" y="2514600"/>
            <a:ext cx="3904487" cy="3108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ការតេស្តត្រូវមើលទាំង happy path និង error path។ ឧទាហរណ៍ មិនត្រឹមតែ test ថា login បានទេ ត្រូវ test password ខុស, user មិន login តែចង់ Add to Bag, stock = 0 និង order របស់ user ផ្សេងទៀតផង។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16 •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Moving from local development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The architecture stays the same, but production adds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4983480" cy="932688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11095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Frontend hosting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0195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Build React and serve the production bundle.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498348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911095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Backend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90195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Run Django with a production WSGI/ASGI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08960"/>
            <a:ext cx="4983480" cy="932688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36976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2783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Use a production database instead of local SQLite.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108960"/>
            <a:ext cx="498348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3236976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2783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Store uploaded product images safely.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34840"/>
            <a:ext cx="4983480" cy="932688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562855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5371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Keep secrets, keys, and configuration out of source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434840"/>
            <a:ext cx="498348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562855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Apto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55371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Secure the site and API with TLS.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72000"/>
            <a:ext cx="10424160" cy="114300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" y="4773168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78231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257800"/>
            <a:ext cx="9985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ពេល deploy ទៅ production ត្រូវគិតពី hosting, production database, image storage, secrets និង HTTPS។ SQLite ល្អសម្រាប់ development ប៉ុន្តែ production គួររៀបចំ database និង infrastructure ឱ្យសមស្របជាងនេះ។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17 • NEXT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447"/>
                </a:solidFill>
                <a:latin typeface="Aptos"/>
              </a:rPr>
              <a:t>What can be improved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8092"/>
                </a:solidFill>
                <a:latin typeface="Aptos"/>
              </a:rPr>
              <a:t>The current foundation can grow into a production-grade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99339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35915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Connect a real payment provider.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82880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4" y="199339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235915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Add smarter search and filters.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82880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9339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35915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Automatic stock updates and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33756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50215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67911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Sales, conversion, and product insights.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333756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350215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Reviews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867911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Customer reviews and verified ratings.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333756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3" y="350215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3447"/>
                </a:solidFill>
                <a:latin typeface="Aptos"/>
              </a:rPr>
              <a:t>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3867911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68092"/>
                </a:solidFill>
                <a:latin typeface="Aptos"/>
              </a:rPr>
              <a:t>Caching, image optimization, and faster APIs.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892040"/>
            <a:ext cx="10561320" cy="868680"/>
          </a:xfrm>
          <a:prstGeom prst="roundRect">
            <a:avLst/>
          </a:prstGeom>
          <a:solidFill>
            <a:srgbClr val="F7FC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" y="5093207"/>
            <a:ext cx="1508760" cy="3108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102351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KHMER EXPLANATION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577840"/>
            <a:ext cx="10122408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3447"/>
                </a:solidFill>
                <a:latin typeface="Noto Sans Khmer"/>
              </a:rPr>
              <a:t>Project បច្ចុប្បន្នអាចពង្រីកបានទៀត ដូចជា real payment, smarter search, stock alert, analytics, customer reviews និង performance optimization។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868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84C7"/>
                </a:solidFill>
                <a:latin typeface="Aptos"/>
              </a:rPr>
              <a:t>AURA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72768"/>
            <a:ext cx="7132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3447"/>
                </a:solidFill>
                <a:latin typeface="Aptos"/>
              </a:rPr>
              <a:t>The complete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26771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8092"/>
                </a:solidFill>
                <a:latin typeface="Aptos"/>
              </a:rPr>
              <a:t>Think of the website as one flow: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14300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98063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284C7"/>
                </a:solidFill>
                <a:latin typeface="Aptos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4831" y="2798063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83447"/>
                </a:solidFill>
                <a:latin typeface="Aptos"/>
              </a:rPr>
              <a:t>What should the user experience?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114300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55263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284C7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3255263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83447"/>
                </a:solidFill>
                <a:latin typeface="Aptos"/>
              </a:rPr>
              <a:t>How does the user interact?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114300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12463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284C7"/>
                </a:solidFill>
                <a:latin typeface="Aptos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3712463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83447"/>
                </a:solidFill>
                <a:latin typeface="Aptos"/>
              </a:rPr>
              <a:t>How do systems communicate?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60520"/>
            <a:ext cx="114300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3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284C7"/>
                </a:solidFill>
                <a:latin typeface="Aptos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4169663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83447"/>
                </a:solidFill>
                <a:latin typeface="Aptos"/>
              </a:rPr>
              <a:t>How is business logic enforced?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17720"/>
            <a:ext cx="114300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26864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284C7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1" y="4626864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83447"/>
                </a:solidFill>
                <a:latin typeface="Aptos"/>
              </a:rPr>
              <a:t>Where is information stored?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74920"/>
            <a:ext cx="114300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84064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284C7"/>
                </a:solidFill>
                <a:latin typeface="Aptos"/>
              </a:rP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4831" y="5084064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83447"/>
                </a:solidFill>
                <a:latin typeface="Aptos"/>
              </a:rPr>
              <a:t>How does the owner manage it?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828800"/>
            <a:ext cx="3063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14884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284C7"/>
                </a:solidFill>
                <a:latin typeface="Noto Sans Khmer"/>
              </a:rPr>
              <a:t>ពន្យល់ជាខ្មែរ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670048"/>
            <a:ext cx="25146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83447"/>
                </a:solidFill>
                <a:latin typeface="Noto Sans Khmer"/>
              </a:rPr>
              <a:t>Website មួយមិនមែនមានតែ UI ទេ។ អ្នកត្រូវយល់ពី User Flow → React → API → Django → Database → Admin។ ពេលយល់ connection ទាំងនេះ អ្នកអាច build និង debug project បានដោយខ្លួនឯង។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7492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68092"/>
                </a:solidFill>
                <a:latin typeface="Aptos"/>
              </a:rPr>
              <a:t>END-TO-END PROJECT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68092"/>
                </a:solidFill>
                <a:latin typeface="Aptos"/>
              </a:rPr>
              <a:t>AURA • Perfume E-Commerce 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5952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668092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